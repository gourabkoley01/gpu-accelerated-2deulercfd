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7" r:id="rId6"/>
    <p:sldId id="259" r:id="rId7"/>
    <p:sldId id="264" r:id="rId8"/>
    <p:sldId id="263" r:id="rId9"/>
    <p:sldId id="261" r:id="rId10"/>
    <p:sldId id="265" r:id="rId11"/>
    <p:sldId id="266" r:id="rId12"/>
    <p:sldId id="262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E7012-9DDD-9F21-0190-8DEA14D80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065BD-2384-81E8-171D-847F23C9D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AF611-1DA1-878C-233D-94E58419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D6159-69BD-464F-A525-0A31F044254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25169-AE88-847A-16DE-559B688B4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34EC0-9038-9AAF-B39A-EBB0ECC7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D36A-4873-4A25-B05F-3BE40E074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15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3AE3-3F2E-97C1-B165-7F1BF0B03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BD558-6748-3A73-67F0-6D90D42B2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6B2AD-7000-4F4D-FB8E-51B8EE081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D6159-69BD-464F-A525-0A31F044254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93BFC-41ED-A045-BFB1-AFC33243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D3C52-E028-E62C-4451-21ABC9B8E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D36A-4873-4A25-B05F-3BE40E074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438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C6EF-E28B-DCEA-1148-A2DF26B40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13B90-0FB2-C36E-63A8-096B46A05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573A-4C3A-F029-01AA-8F6905C98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D6159-69BD-464F-A525-0A31F044254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7A80D-B06E-97AD-62E1-BFA428BA7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53CC0-99E6-C548-BFF5-EB6A105D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D36A-4873-4A25-B05F-3BE40E074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493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67415-9218-3D42-EA93-5DD075AF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1EDFA-D1F7-CDBD-DCF7-1DD51FEBD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7344A-E213-C515-A738-620CC0552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3EB3D-362D-A942-70F9-8033F69BB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D6159-69BD-464F-A525-0A31F044254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E98BD-B65E-1DF6-9F2D-D959AEAC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8C94D-D791-F35B-07F3-E079689C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D36A-4873-4A25-B05F-3BE40E074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781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C7C76-E37A-EBB7-40B5-CE3B242EC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F202C-092F-2B59-A067-69BF3C477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583EE-F53A-E1D0-CF04-2B1FBE582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A725A4-7776-94CC-E865-41CD9F24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12137D-94C1-EB02-4FEB-49A248346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ABE011-ABE1-A113-F578-54DD66217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D6159-69BD-464F-A525-0A31F044254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6F4303-6810-A1EF-E34E-F03D1E45E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0DB3A9-3046-E85C-17DD-FC66C1834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D36A-4873-4A25-B05F-3BE40E074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022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96BB-9D3B-89BA-3146-9478FAE69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BE328D-DD61-1215-DB6B-3AE6EA1D6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D6159-69BD-464F-A525-0A31F044254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F7B86-5AE1-0597-02A8-BD0AFA63E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08638-96CC-FEE7-F652-BDB1B42E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D36A-4873-4A25-B05F-3BE40E074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018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56EF70-079D-2FFF-5CB0-8874823EC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D6159-69BD-464F-A525-0A31F044254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EE8F4C-98ED-238D-D2E9-FC7A19445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F4AA2-4673-F2E8-488A-80F6DE26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D36A-4873-4A25-B05F-3BE40E074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779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3496-5228-10B6-804E-5494B3B78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C9442-7F2E-A23A-692F-FF09D25B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C8C72-5425-7A63-2E9A-4717BC298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C2DE0-6267-9815-1241-746E7A13D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D6159-69BD-464F-A525-0A31F044254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D9C45-E086-AB61-3153-03C98300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92488-72CF-A1F6-785B-A60AEFA58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D36A-4873-4A25-B05F-3BE40E074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40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837E6-4AD6-E6F5-F54A-E8EB990FC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CCC3D-2EAE-A9EE-27D1-1A2834DCE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9AB3-FCCA-E643-AE35-758DACB7B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4A0C3-FE6B-B3A3-913E-CE7158036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D6159-69BD-464F-A525-0A31F044254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AD518-4CEB-7464-5600-E90D0A79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3541A-7D53-B14A-E0D3-2CC9E72D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D36A-4873-4A25-B05F-3BE40E074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234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111BA-A8FC-6041-1F67-5BA2AB07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5B72A-C4B0-0691-42E1-1AE75806E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D376F-7B72-555D-1009-06F3A405A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D6159-69BD-464F-A525-0A31F044254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8395A-A9A9-A3C0-0FEF-67894CB1D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C2B96-77B6-BE83-A822-02F3E13D1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D36A-4873-4A25-B05F-3BE40E074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822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1FCE13-D134-785D-19DC-C30A17A3B6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E3659-8967-53B0-81BA-AD4B88E65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84DDB-38F4-77CE-C268-536FACD4F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D6159-69BD-464F-A525-0A31F044254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7446A-6BF6-B16B-E282-A8783633B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35E21-BDD1-82B4-FA1B-E4CF24934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7D36A-4873-4A25-B05F-3BE40E074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530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059B42-C3C4-09A3-7A32-37D4B82F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65376-FC62-8603-3EBC-FE85911BD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67EB9-619B-A2B6-3C8D-1674BC9AB0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FD6159-69BD-464F-A525-0A31F0442543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E9997-5659-860E-EEA0-1C0FC65A5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E89AD-1081-3AED-4223-C53AEF76D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7D36A-4873-4A25-B05F-3BE40E074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874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Excel_Worksheet6.xlsx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5.xls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emf"/><Relationship Id="rId7" Type="http://schemas.openxmlformats.org/officeDocument/2006/relationships/image" Target="../media/image15.emf"/><Relationship Id="rId2" Type="http://schemas.openxmlformats.org/officeDocument/2006/relationships/package" Target="../embeddings/Microsoft_Excel_Worksheet7.xls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Excel_Worksheet9.xlsx"/><Relationship Id="rId5" Type="http://schemas.openxmlformats.org/officeDocument/2006/relationships/image" Target="../media/image14.emf"/><Relationship Id="rId4" Type="http://schemas.openxmlformats.org/officeDocument/2006/relationships/package" Target="../embeddings/Microsoft_Excel_Worksheet8.xls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emf"/><Relationship Id="rId7" Type="http://schemas.openxmlformats.org/officeDocument/2006/relationships/image" Target="../media/image19.emf"/><Relationship Id="rId2" Type="http://schemas.openxmlformats.org/officeDocument/2006/relationships/package" Target="../embeddings/Microsoft_Excel_Worksheet10.xlsx"/><Relationship Id="rId1" Type="http://schemas.openxmlformats.org/officeDocument/2006/relationships/slideLayout" Target="../slideLayouts/slideLayout2.xml"/><Relationship Id="rId6" Type="http://schemas.openxmlformats.org/officeDocument/2006/relationships/package" Target="../embeddings/Microsoft_Excel_Worksheet12.xlsx"/><Relationship Id="rId5" Type="http://schemas.openxmlformats.org/officeDocument/2006/relationships/image" Target="../media/image18.emf"/><Relationship Id="rId4" Type="http://schemas.openxmlformats.org/officeDocument/2006/relationships/package" Target="../embeddings/Microsoft_Excel_Worksheet11.xls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D575-60FB-2EF7-E5CC-276589EA3B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IDC 606 HPC Presentation 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EAD49-2BB1-A519-9F65-7439494B28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-Gourab Koley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067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525E-A1FD-1B7C-C4EE-75446E2F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19" y="99164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and Verification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E15101-E142-4C42-0C68-5A5B857592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688" y="2597831"/>
            <a:ext cx="5981312" cy="4260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691282-70E1-CD49-725C-256C8AA0C5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4727"/>
            <a:ext cx="6271404" cy="546496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919BCB-5397-DBCE-5AE6-1A0368A2FBFF}"/>
              </a:ext>
            </a:extLst>
          </p:cNvPr>
          <p:cNvSpPr txBox="1"/>
          <p:nvPr/>
        </p:nvSpPr>
        <p:spPr>
          <a:xfrm>
            <a:off x="6672922" y="1252198"/>
            <a:ext cx="464963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errors at t = 0.2 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Density:    0.000174  	Velocity:   0.000187  	Pressure:  0.000075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61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467F-1ADD-45BA-4ABE-6F3204EE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38" y="181155"/>
            <a:ext cx="10515600" cy="999662"/>
          </a:xfrm>
        </p:spPr>
        <p:txBody>
          <a:bodyPr>
            <a:no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chart of CPU and GPU  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CC641CB-FAE4-06BF-0BF7-8DD94046FE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992235"/>
              </p:ext>
            </p:extLst>
          </p:nvPr>
        </p:nvGraphicFramePr>
        <p:xfrm>
          <a:off x="290513" y="1609725"/>
          <a:ext cx="11706225" cy="363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162631" imgH="1914555" progId="Excel.Sheet.12">
                  <p:embed/>
                </p:oleObj>
              </mc:Choice>
              <mc:Fallback>
                <p:oleObj name="Worksheet" r:id="rId2" imgW="6162631" imgH="191455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0513" y="1609725"/>
                        <a:ext cx="11706225" cy="3638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1196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027D-7665-EE47-BDD7-676E32C57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17" y="71827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up for CPU vs GPU 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297C49B-E68B-7A94-AE5B-0383A0E05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883" y="1001559"/>
            <a:ext cx="12192000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532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EA18C-E22D-A997-BDBB-9F6F51A4E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872" y="-230086"/>
            <a:ext cx="12404778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Specs of different versions of GPU optimized codes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7DCF708-E39A-3CC0-FD8C-3B2B1EF78B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169305"/>
              </p:ext>
            </p:extLst>
          </p:nvPr>
        </p:nvGraphicFramePr>
        <p:xfrm>
          <a:off x="1064913" y="1196317"/>
          <a:ext cx="9787117" cy="4607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705431" imgH="2685813" progId="Excel.Sheet.12">
                  <p:embed/>
                </p:oleObj>
              </mc:Choice>
              <mc:Fallback>
                <p:oleObj name="Worksheet" r:id="rId2" imgW="5705431" imgH="268581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4913" y="1196317"/>
                        <a:ext cx="9787117" cy="46076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2612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4AED-5467-F01C-7278-4EAA6D91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11" y="106333"/>
            <a:ext cx="11861321" cy="1325563"/>
          </a:xfrm>
        </p:spPr>
        <p:txBody>
          <a:bodyPr/>
          <a:lstStyle/>
          <a:p>
            <a:r>
              <a:rPr lang="en-IN" dirty="0"/>
              <a:t>Specs of different versions of GPU optimized codes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B87DB-6157-924B-929D-4989E4EE8A4E}"/>
              </a:ext>
            </a:extLst>
          </p:cNvPr>
          <p:cNvSpPr txBox="1"/>
          <p:nvPr/>
        </p:nvSpPr>
        <p:spPr>
          <a:xfrm>
            <a:off x="301924" y="1431896"/>
            <a:ext cx="4991971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Baseline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F1F1F"/>
                </a:solidFill>
                <a:effectLst/>
                <a:latin typeface="Google Sans Text"/>
              </a:rPr>
              <a:t>Unoptimized baseline implementation using isolated kernels and an Array of Structures (</a:t>
            </a:r>
            <a:r>
              <a:rPr lang="en-US" sz="1600" b="0" i="0" dirty="0" err="1">
                <a:solidFill>
                  <a:srgbClr val="1F1F1F"/>
                </a:solidFill>
                <a:effectLst/>
                <a:latin typeface="Google Sans Text"/>
              </a:rPr>
              <a:t>AoS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Google Sans Text"/>
              </a:rPr>
              <a:t>) memory layout.</a:t>
            </a:r>
            <a:endParaRPr lang="en-IN" sz="2400" dirty="0"/>
          </a:p>
          <a:p>
            <a:r>
              <a:rPr lang="en-IN" sz="2000" dirty="0"/>
              <a:t>Opti_1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1F1F1F"/>
                </a:solidFill>
                <a:effectLst/>
                <a:latin typeface="Google Sans Text"/>
              </a:rPr>
              <a:t>Reduces computational overhead by eliminating expensive division operations</a:t>
            </a:r>
          </a:p>
          <a:p>
            <a:r>
              <a:rPr lang="en-IN" dirty="0"/>
              <a:t>Opti_2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Explores primitive variable passing to reduce redundant state conversions</a:t>
            </a:r>
            <a:endParaRPr lang="en-IN" dirty="0"/>
          </a:p>
          <a:p>
            <a:r>
              <a:rPr lang="en-IN" dirty="0"/>
              <a:t>Opti_3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Fuses the RHS calculation with the Runge-</a:t>
            </a:r>
            <a:r>
              <a:rPr lang="en-US" dirty="0" err="1"/>
              <a:t>Kutta</a:t>
            </a:r>
            <a:r>
              <a:rPr lang="en-US" dirty="0"/>
              <a:t> time-stepping kernels to reduce global memory roundtrips.</a:t>
            </a:r>
            <a:endParaRPr lang="en-IN" dirty="0"/>
          </a:p>
          <a:p>
            <a:r>
              <a:rPr lang="en-IN" dirty="0"/>
              <a:t>Opti_4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Eliminates intermediate flux arrays by computing the entire spatial operator locally within GPU registers.</a:t>
            </a:r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26D45B4-A47D-5C6F-5EDA-A63A266B3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797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Fuses the RHS calculation with the Runge-Kutta time-stepping kernels to reduce global memory roundtrips.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D2E1CE0-3CD6-5882-6D99-9117CEF12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30797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Fuses the RHS calculation with the Runge-Kutta time-stepping kernels to reduce global memory roundtrips.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096DD8C-34A1-0167-5EE2-6C0B868B49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79412"/>
              </p:ext>
            </p:extLst>
          </p:nvPr>
        </p:nvGraphicFramePr>
        <p:xfrm>
          <a:off x="5159375" y="1538288"/>
          <a:ext cx="6731000" cy="449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409861" imgH="2867035" progId="Excel.Sheet.12">
                  <p:embed/>
                </p:oleObj>
              </mc:Choice>
              <mc:Fallback>
                <p:oleObj name="Worksheet" r:id="rId2" imgW="3409861" imgH="28670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59375" y="1538288"/>
                        <a:ext cx="6731000" cy="4491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9383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4AED-5467-F01C-7278-4EAA6D91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11" y="106333"/>
            <a:ext cx="11861321" cy="1325563"/>
          </a:xfrm>
        </p:spPr>
        <p:txBody>
          <a:bodyPr/>
          <a:lstStyle/>
          <a:p>
            <a:r>
              <a:rPr lang="en-IN" dirty="0"/>
              <a:t>Specs of different versions of GPU optimized codes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BA292-5E2E-322F-3FB2-1E2346EDB28E}"/>
              </a:ext>
            </a:extLst>
          </p:cNvPr>
          <p:cNvSpPr txBox="1"/>
          <p:nvPr/>
        </p:nvSpPr>
        <p:spPr>
          <a:xfrm>
            <a:off x="433137" y="1538228"/>
            <a:ext cx="454430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Opti_5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Extends the extreme fusion architecture to support a robust 3-stage SSP-RK3 scheme.</a:t>
            </a:r>
            <a:endParaRPr lang="en-IN" dirty="0"/>
          </a:p>
          <a:p>
            <a:r>
              <a:rPr lang="en-IN" dirty="0"/>
              <a:t>Opti_6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Refactors the data architecture from Array of Structures (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 Text"/>
              </a:rPr>
              <a:t>AoS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) to Structure of Arrays (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Google Sans Text"/>
              </a:rPr>
              <a:t>SoA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).</a:t>
            </a:r>
            <a:endParaRPr lang="en-IN" dirty="0"/>
          </a:p>
          <a:p>
            <a:r>
              <a:rPr lang="en-IN" dirty="0"/>
              <a:t>Opti_7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Optimizes thread block dimensions and local stencil loading to prevent register spilling.</a:t>
            </a:r>
            <a:endParaRPr lang="en-IN" dirty="0"/>
          </a:p>
          <a:p>
            <a:r>
              <a:rPr lang="en-IN" dirty="0"/>
              <a:t>Opti_8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Pushes grid spacing calculations to constants to squeeze out final floating-point efficiencies.</a:t>
            </a:r>
            <a:endParaRPr lang="en-IN" dirty="0"/>
          </a:p>
          <a:p>
            <a:r>
              <a:rPr lang="en-IN" dirty="0"/>
              <a:t>Opti_8_shmem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Leverages ultra-fast on-chip GPU shared memory to cache overlapping cell data.</a:t>
            </a:r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26D45B4-A47D-5C6F-5EDA-A63A266B3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797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Fuses the RHS calculation with the Runge-Kutta time-stepping kernels to reduce global memory roundtrips.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D2E1CE0-3CD6-5882-6D99-9117CEF12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30797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Fuses the RHS calculation with the Runge-Kutta time-stepping kernels to reduce global memory roundtrips.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3BB7FB5-CFF6-8065-D09F-ED2B0F38F0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270192"/>
              </p:ext>
            </p:extLst>
          </p:nvPr>
        </p:nvGraphicFramePr>
        <p:xfrm>
          <a:off x="5205143" y="2466196"/>
          <a:ext cx="6426298" cy="2882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438561" imgH="1990774" progId="Excel.Sheet.12">
                  <p:embed/>
                </p:oleObj>
              </mc:Choice>
              <mc:Fallback>
                <p:oleObj name="Worksheet" r:id="rId2" imgW="4438561" imgH="199077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05143" y="2466196"/>
                        <a:ext cx="6426298" cy="28821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955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A3A0B-8BC2-A90A-0B52-5916F2009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</a:t>
            </a:r>
          </a:p>
        </p:txBody>
      </p:sp>
      <p:pic>
        <p:nvPicPr>
          <p:cNvPr id="4" name="Video_Editing_and_GIF_Creation">
            <a:hlinkClick r:id="" action="ppaction://media"/>
            <a:extLst>
              <a:ext uri="{FF2B5EF4-FFF2-40B4-BE49-F238E27FC236}">
                <a16:creationId xmlns:a16="http://schemas.microsoft.com/office/drawing/2014/main" id="{0E20533B-E557-8CE1-015C-5EA5EDE7C06D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38733" y="1170018"/>
            <a:ext cx="9245869" cy="5200684"/>
          </a:xfrm>
        </p:spPr>
      </p:pic>
    </p:spTree>
    <p:extLst>
      <p:ext uri="{BB962C8B-B14F-4D97-AF65-F5344CB8AC3E}">
        <p14:creationId xmlns:p14="http://schemas.microsoft.com/office/powerpoint/2010/main" val="148033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76EF-24B9-59CD-F132-FD062ED07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01" y="-281841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Scaling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5B27C92-20EE-03C1-FE2D-3E3E334698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527350"/>
              </p:ext>
            </p:extLst>
          </p:nvPr>
        </p:nvGraphicFramePr>
        <p:xfrm>
          <a:off x="70692" y="653571"/>
          <a:ext cx="6908078" cy="202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115308" imgH="1924149" progId="Excel.Sheet.12">
                  <p:embed/>
                </p:oleObj>
              </mc:Choice>
              <mc:Fallback>
                <p:oleObj name="Worksheet" r:id="rId2" imgW="7115308" imgH="192414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692" y="653571"/>
                        <a:ext cx="6908078" cy="2028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FFA9005-74B7-E376-67CE-8346484A76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825368"/>
              </p:ext>
            </p:extLst>
          </p:nvPr>
        </p:nvGraphicFramePr>
        <p:xfrm>
          <a:off x="70692" y="4960189"/>
          <a:ext cx="6908078" cy="1826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915416" imgH="1924149" progId="Excel.Sheet.12">
                  <p:embed/>
                </p:oleObj>
              </mc:Choice>
              <mc:Fallback>
                <p:oleObj name="Worksheet" r:id="rId4" imgW="6915416" imgH="192414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692" y="4960189"/>
                        <a:ext cx="6908078" cy="18268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9CE1F4-4E1B-9471-13FA-57140E8C70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231470"/>
              </p:ext>
            </p:extLst>
          </p:nvPr>
        </p:nvGraphicFramePr>
        <p:xfrm>
          <a:off x="70692" y="2811686"/>
          <a:ext cx="6908078" cy="201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6867569" imgH="1924149" progId="Excel.Sheet.12">
                  <p:embed/>
                </p:oleObj>
              </mc:Choice>
              <mc:Fallback>
                <p:oleObj name="Worksheet" r:id="rId6" imgW="6867569" imgH="192414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692" y="2811686"/>
                        <a:ext cx="6908078" cy="2019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2">
            <a:extLst>
              <a:ext uri="{FF2B5EF4-FFF2-40B4-BE49-F238E27FC236}">
                <a16:creationId xmlns:a16="http://schemas.microsoft.com/office/drawing/2014/main" id="{B3123C83-B49D-CAEE-03C3-D51C4DCC76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8DA3DE3-206E-DACE-66D6-2DDAEFD943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253" y="13884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32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76EF-24B9-59CD-F132-FD062ED07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01" y="-281841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Utilization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5B27C92-20EE-03C1-FE2D-3E3E334698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777218"/>
              </p:ext>
            </p:extLst>
          </p:nvPr>
        </p:nvGraphicFramePr>
        <p:xfrm>
          <a:off x="24428" y="4951562"/>
          <a:ext cx="7299398" cy="1811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115308" imgH="1924149" progId="Excel.Sheet.12">
                  <p:embed/>
                </p:oleObj>
              </mc:Choice>
              <mc:Fallback>
                <p:oleObj name="Worksheet" r:id="rId2" imgW="7115308" imgH="1924149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5B27C92-20EE-03C1-FE2D-3E3E334698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428" y="4951562"/>
                        <a:ext cx="7299398" cy="18115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FFA9005-74B7-E376-67CE-8346484A76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641979"/>
              </p:ext>
            </p:extLst>
          </p:nvPr>
        </p:nvGraphicFramePr>
        <p:xfrm>
          <a:off x="24428" y="644945"/>
          <a:ext cx="7299398" cy="201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915416" imgH="1924149" progId="Excel.Sheet.12">
                  <p:embed/>
                </p:oleObj>
              </mc:Choice>
              <mc:Fallback>
                <p:oleObj name="Worksheet" r:id="rId4" imgW="6915416" imgH="1924149" progId="Excel.Sheet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CFFA9005-74B7-E376-67CE-8346484A76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428" y="644945"/>
                        <a:ext cx="7299398" cy="2019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9CE1F4-4E1B-9471-13FA-57140E8C70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151946"/>
              </p:ext>
            </p:extLst>
          </p:nvPr>
        </p:nvGraphicFramePr>
        <p:xfrm>
          <a:off x="24428" y="2798253"/>
          <a:ext cx="7299398" cy="201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6867569" imgH="1924149" progId="Excel.Sheet.12">
                  <p:embed/>
                </p:oleObj>
              </mc:Choice>
              <mc:Fallback>
                <p:oleObj name="Worksheet" r:id="rId6" imgW="6867569" imgH="1924149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29CE1F4-4E1B-9471-13FA-57140E8C70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428" y="2798253"/>
                        <a:ext cx="7299398" cy="2019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1327051-E534-8DA0-C190-7C2E2FB3C4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973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4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76EF-24B9-59CD-F132-FD062ED07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01" y="-281841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Behaviour 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5B27C92-20EE-03C1-FE2D-3E3E334698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801165"/>
              </p:ext>
            </p:extLst>
          </p:nvPr>
        </p:nvGraphicFramePr>
        <p:xfrm>
          <a:off x="92014" y="4899804"/>
          <a:ext cx="7249064" cy="1777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115308" imgH="1924149" progId="Excel.Sheet.12">
                  <p:embed/>
                </p:oleObj>
              </mc:Choice>
              <mc:Fallback>
                <p:oleObj name="Worksheet" r:id="rId2" imgW="7115308" imgH="1924149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5B27C92-20EE-03C1-FE2D-3E3E334698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014" y="4899804"/>
                        <a:ext cx="7249064" cy="1777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FFA9005-74B7-E376-67CE-8346484A76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858815"/>
              </p:ext>
            </p:extLst>
          </p:nvPr>
        </p:nvGraphicFramePr>
        <p:xfrm>
          <a:off x="92013" y="724619"/>
          <a:ext cx="7249065" cy="201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915416" imgH="1924149" progId="Excel.Sheet.12">
                  <p:embed/>
                </p:oleObj>
              </mc:Choice>
              <mc:Fallback>
                <p:oleObj name="Worksheet" r:id="rId4" imgW="6915416" imgH="1924149" progId="Excel.Sheet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CFFA9005-74B7-E376-67CE-8346484A76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013" y="724619"/>
                        <a:ext cx="7249065" cy="2019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9CE1F4-4E1B-9471-13FA-57140E8C70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952633"/>
              </p:ext>
            </p:extLst>
          </p:nvPr>
        </p:nvGraphicFramePr>
        <p:xfrm>
          <a:off x="67863" y="2863969"/>
          <a:ext cx="7278847" cy="1899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6867569" imgH="1924149" progId="Excel.Sheet.12">
                  <p:embed/>
                </p:oleObj>
              </mc:Choice>
              <mc:Fallback>
                <p:oleObj name="Worksheet" r:id="rId6" imgW="6867569" imgH="1924149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29CE1F4-4E1B-9471-13FA-57140E8C70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863" y="2863969"/>
                        <a:ext cx="7278847" cy="18990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BCB1A50-777B-8D5E-FEF4-3BD7A2C007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98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96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9A49-903A-53CB-054E-0B7CC09F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075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charts </a:t>
            </a:r>
          </a:p>
        </p:txBody>
      </p:sp>
      <p:pic>
        <p:nvPicPr>
          <p:cNvPr id="6" name="Picture 5" descr="A graph of a bar graph&#10;&#10;AI-generated content may be incorrect.">
            <a:extLst>
              <a:ext uri="{FF2B5EF4-FFF2-40B4-BE49-F238E27FC236}">
                <a16:creationId xmlns:a16="http://schemas.microsoft.com/office/drawing/2014/main" id="{DC2C5F49-D534-691A-EEEE-3B018EA60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416" y="781662"/>
            <a:ext cx="4930078" cy="3081298"/>
          </a:xfrm>
          <a:prstGeom prst="rect">
            <a:avLst/>
          </a:prstGeom>
        </p:spPr>
      </p:pic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F617F4B-4824-29E6-D8C6-5866AB7C5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494" y="649240"/>
            <a:ext cx="4909990" cy="3068743"/>
          </a:xfrm>
          <a:prstGeom prst="rect">
            <a:avLst/>
          </a:prstGeom>
        </p:spPr>
      </p:pic>
      <p:pic>
        <p:nvPicPr>
          <p:cNvPr id="10" name="Picture 9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E6AF70BD-2DA1-53A7-4A2F-08B4D0F6BF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416" y="3804243"/>
            <a:ext cx="4996418" cy="3122762"/>
          </a:xfrm>
          <a:prstGeom prst="rect">
            <a:avLst/>
          </a:prstGeom>
        </p:spPr>
      </p:pic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5706AEF-664A-D8F2-6CB6-EFA42DE944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494" y="3880160"/>
            <a:ext cx="5049328" cy="302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733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E6E4-5C95-D34E-E852-883E0FF66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87" y="-20602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663591-274D-4FD3-690D-D949E2E0AB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0230" y="971609"/>
                <a:ext cx="10515600" cy="520460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Performance Achievements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Achieved ~2.3x speedup over baseline GPU implementation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Sustained ~72-77 TFLOPS on larger grids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Peak Performance of ~85 TFLOPS (FP32) 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Optimization Insights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Kernel fusion (opti4) gave the largest performance gain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SoA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memory layout improved memory bandwidth utilization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Register reuse+ extreme fusion (opti8) increased arithmetic intensity  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GPU Behaviour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Solver transitions from memory –bound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dominant regime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 utilization ~ 77-78% , showing good compute efficiency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Occupancy limited (~48%) due to high register usage (~80 registers/thread) </a:t>
                </a:r>
              </a:p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Limitations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Register pressure restricts further parallelism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~13 % memory accesses remains uncoalesced (stencil limitation)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Share memory provides only marginal improvement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663591-274D-4FD3-690D-D949E2E0AB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0230" y="971609"/>
                <a:ext cx="10515600" cy="5204601"/>
              </a:xfrm>
              <a:blipFill>
                <a:blip r:embed="rId2"/>
                <a:stretch>
                  <a:fillRect l="-928" t="-3162" b="-17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9776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426</Words>
  <Application>Microsoft Office PowerPoint</Application>
  <PresentationFormat>Widescreen</PresentationFormat>
  <Paragraphs>60</Paragraphs>
  <Slides>13</Slides>
  <Notes>0</Notes>
  <HiddenSlides>2</HiddenSlides>
  <MMClips>1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Google Sans Text</vt:lpstr>
      <vt:lpstr>Times New Roman</vt:lpstr>
      <vt:lpstr>Office Theme</vt:lpstr>
      <vt:lpstr>Worksheet</vt:lpstr>
      <vt:lpstr>Microsoft Excel Worksheet</vt:lpstr>
      <vt:lpstr>IDC 606 HPC Presentation  </vt:lpstr>
      <vt:lpstr>Validation and Verification  </vt:lpstr>
      <vt:lpstr>Comparison chart of CPU and GPU   </vt:lpstr>
      <vt:lpstr>Speed up for CPU vs GPU   </vt:lpstr>
      <vt:lpstr>Specs of different versions of GPU optimized codes </vt:lpstr>
      <vt:lpstr>Specs of different versions of GPU optimized codes </vt:lpstr>
      <vt:lpstr>Specs of different versions of GPU optimized codes </vt:lpstr>
      <vt:lpstr>AoS and SoA Architecture </vt:lpstr>
      <vt:lpstr>Performance Scaling</vt:lpstr>
      <vt:lpstr>GPU Utilization</vt:lpstr>
      <vt:lpstr>Memory Behaviour </vt:lpstr>
      <vt:lpstr>Comparison charts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Gourab Koley</dc:creator>
  <cp:lastModifiedBy>Gourab Koley</cp:lastModifiedBy>
  <cp:revision>12</cp:revision>
  <dcterms:created xsi:type="dcterms:W3CDTF">2026-04-22T19:54:17Z</dcterms:created>
  <dcterms:modified xsi:type="dcterms:W3CDTF">2026-04-25T12:17:08Z</dcterms:modified>
</cp:coreProperties>
</file>